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50" d="100"/>
          <a:sy n="150" d="100"/>
        </p:scale>
        <p:origin x="1912" y="1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647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solidFill>
            <a:srgbClr val="1A1A1A"/>
          </a:solidFill>
          <a:ln w="19050">
            <a:solidFill>
              <a:srgbClr val="D4A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600" dirty="0">
                <a:solidFill>
                  <a:srgbClr val="4CA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白穹纪元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机械永生录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真空管电子机械赛博朋克 · 叙事驱动型 RPG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828800" y="4114800"/>
            <a:ext cx="5486400" cy="0"/>
          </a:xfrm>
          <a:prstGeom prst="line">
            <a:avLst/>
          </a:prstGeom>
          <a:noFill/>
          <a:ln w="6350">
            <a:solidFill>
              <a:srgbClr val="4CAF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0" y="4389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概念图待补充 ]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在精密运转的永恒秩序下目睹个体被无声碾碎的无力感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永生只是谎言，自由只是幻觉，反抗的尽头是空壳。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0" y="3840480"/>
            <a:ext cx="3657600" cy="0"/>
          </a:xfrm>
          <a:prstGeom prst="line">
            <a:avLst/>
          </a:prstGeom>
          <a:noFill/>
          <a:ln w="6350">
            <a:solidFill>
              <a:srgbClr val="8888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0" y="47548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4CA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NOW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赛博朋克市场正处在一个同质化的疲劳期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73152" cy="548640"/>
          </a:xfrm>
          <a:prstGeom prst="rect">
            <a:avLst/>
          </a:prstGeom>
          <a:solidFill>
            <a:srgbClr val="D4A04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54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品类验证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赛博朋克2077 3000万份销量，品类已主流化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73152" cy="548640"/>
          </a:xfrm>
          <a:prstGeom prst="rect">
            <a:avLst/>
          </a:prstGeom>
          <a:solidFill>
            <a:srgbClr val="D4A04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审美窗口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606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霓虹灯+纳米义体统治70年，市场渴望新视觉语言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108960"/>
            <a:ext cx="73152" cy="548640"/>
          </a:xfrm>
          <a:prstGeom prst="rect">
            <a:avLst/>
          </a:prstGeom>
          <a:solidFill>
            <a:srgbClr val="D4A040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1089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叙事需求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3832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极乐迪斯科500万份，叙事型游戏需求持续上升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886200"/>
            <a:ext cx="73152" cy="548640"/>
          </a:xfrm>
          <a:prstGeom prst="rect">
            <a:avLst/>
          </a:prstGeom>
          <a:solidFill>
            <a:srgbClr val="D4A04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8862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市场空白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4160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真空管电子机械美学，全球游戏市场零竞品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412480" y="47548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4CA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一个自洽、封闭、令人窒息的反乌托邦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651760" cy="2926080"/>
          </a:xfrm>
          <a:prstGeom prst="rect">
            <a:avLst/>
          </a:prstGeom>
          <a:solidFill>
            <a:srgbClr val="222222"/>
          </a:solidFill>
          <a:ln w="6350">
            <a:solidFill>
              <a:srgbClr val="D4A0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373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白穹城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CA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12亿人口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极致秩序下的思想筛选工厂。积分制度驱动全民内卷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4747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概念图待补充 ]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337560" y="1554480"/>
            <a:ext cx="2651760" cy="2926080"/>
          </a:xfrm>
          <a:prstGeom prst="rect">
            <a:avLst/>
          </a:prstGeom>
          <a:solidFill>
            <a:srgbClr val="222222"/>
          </a:solidFill>
          <a:ln w="6350">
            <a:solidFill>
              <a:srgbClr val="D4A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0440" y="17373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铁锈带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20440" y="2103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CA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80亿人口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520440" y="24688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残酷自由里的垃圾场与血汗工厂。帮派割据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20440" y="34747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概念图待补充 ]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217920" y="1554480"/>
            <a:ext cx="2651760" cy="2926080"/>
          </a:xfrm>
          <a:prstGeom prst="rect">
            <a:avLst/>
          </a:prstGeom>
          <a:solidFill>
            <a:srgbClr val="222222"/>
          </a:solidFill>
          <a:ln w="6350">
            <a:solidFill>
              <a:srgbClr val="D4A0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7373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伊甸核心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0" y="2103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CA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5000万空壳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0" y="24688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谎言包裹下的永生收容所与定期屠宰场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0" y="34747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概念图待补充 ]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412480" y="47548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4CA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CONFLICT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这个世界的残酷之处不在于暴力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" cy="457200"/>
          </a:xfrm>
          <a:prstGeom prst="rect">
            <a:avLst/>
          </a:prstGeom>
          <a:solidFill>
            <a:srgbClr val="CC663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544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没有绝对的施暴者与被压迫者 —— 每个人都在主动维护困住自己的规则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54864" cy="457200"/>
          </a:xfrm>
          <a:prstGeom prst="rect">
            <a:avLst/>
          </a:prstGeom>
          <a:solidFill>
            <a:srgbClr val="CC6633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2402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统合部不是恶棍 —— 它是资源约束下的极端理性管理者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54864" cy="457200"/>
          </a:xfrm>
          <a:prstGeom prst="rect">
            <a:avLst/>
          </a:prstGeom>
          <a:solidFill>
            <a:srgbClr val="CC6633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9260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永生者的维持成本超过新人口产出，二十年一次的配给平衡程序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54864" cy="457200"/>
          </a:xfrm>
          <a:prstGeom prst="rect">
            <a:avLst/>
          </a:prstGeom>
          <a:solidFill>
            <a:srgbClr val="CC6633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118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最具摧毁性的不是压迫，是知道了真相后，绝大多数人选择沉默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核心主题：理解但不认同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0" y="47548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4CA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74章 50万字 已全部完成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8229600" cy="0"/>
          </a:xfrm>
          <a:prstGeom prst="line">
            <a:avLst/>
          </a:prstGeom>
          <a:noFill/>
          <a:ln w="25400">
            <a:solidFill>
              <a:srgbClr val="D4A0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CA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前传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103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12章 韩执的故事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91840" y="1828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主线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91840" y="2103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50章 洛安的故事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406640" y="1828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66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后传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406640" y="2103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12章 裂缝之后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前传：韩执发现伊甸真相，加密芯片，被出卖，飞升成空壳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主线：洛安距飞升92天发现同事被流放，追查真相，四十六秒全城播片，五比四改革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后传：两年后五方格局，维拉追猎，洛安谈判，教育法案4:4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412480" y="47548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4CA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 SYSTEMS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14个子系统已全部完成设计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554480" cy="822960"/>
          </a:xfrm>
          <a:prstGeom prst="rect">
            <a:avLst/>
          </a:prstGeom>
          <a:solidFill>
            <a:srgbClr val="222222"/>
          </a:solidFill>
          <a:ln w="6350">
            <a:solidFill>
              <a:srgbClr val="D4A0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830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战斗系统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48840" y="1554480"/>
            <a:ext cx="1554480" cy="822960"/>
          </a:xfrm>
          <a:prstGeom prst="rect">
            <a:avLst/>
          </a:prstGeom>
          <a:solidFill>
            <a:srgbClr val="222222"/>
          </a:solidFill>
          <a:ln w="6350">
            <a:solidFill>
              <a:srgbClr val="D4A0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40280" y="17830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PVP系统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0" y="1554480"/>
            <a:ext cx="1554480" cy="822960"/>
          </a:xfrm>
          <a:prstGeom prst="rect">
            <a:avLst/>
          </a:prstGeom>
          <a:solidFill>
            <a:srgbClr val="222222"/>
          </a:solidFill>
          <a:ln w="6350">
            <a:solidFill>
              <a:srgbClr val="D4A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31920" y="17830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制造采集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532120" y="1554480"/>
            <a:ext cx="1554480" cy="822960"/>
          </a:xfrm>
          <a:prstGeom prst="rect">
            <a:avLst/>
          </a:prstGeom>
          <a:solidFill>
            <a:srgbClr val="222222"/>
          </a:solidFill>
          <a:ln w="6350">
            <a:solidFill>
              <a:srgbClr val="D4A0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23560" y="17830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任务链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223760" y="1554480"/>
            <a:ext cx="1554480" cy="822960"/>
          </a:xfrm>
          <a:prstGeom prst="rect">
            <a:avLst/>
          </a:prstGeom>
          <a:solidFill>
            <a:srgbClr val="222222"/>
          </a:solidFill>
          <a:ln w="6350">
            <a:solidFill>
              <a:srgbClr val="D4A0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0" y="17830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经济交易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651760"/>
            <a:ext cx="1554480" cy="822960"/>
          </a:xfrm>
          <a:prstGeom prst="rect">
            <a:avLst/>
          </a:prstGeom>
          <a:solidFill>
            <a:srgbClr val="222222"/>
          </a:solidFill>
          <a:ln w="6350">
            <a:solidFill>
              <a:srgbClr val="D4A0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880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社交公会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148840" y="2651760"/>
            <a:ext cx="1554480" cy="822960"/>
          </a:xfrm>
          <a:prstGeom prst="rect">
            <a:avLst/>
          </a:prstGeom>
          <a:solidFill>
            <a:srgbClr val="222222"/>
          </a:solidFill>
          <a:ln w="6350">
            <a:solidFill>
              <a:srgbClr val="D4A0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40280" y="2880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家园系统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840480" y="2651760"/>
            <a:ext cx="1554480" cy="822960"/>
          </a:xfrm>
          <a:prstGeom prst="rect">
            <a:avLst/>
          </a:prstGeom>
          <a:solidFill>
            <a:srgbClr val="222222"/>
          </a:solidFill>
          <a:ln w="6350">
            <a:solidFill>
              <a:srgbClr val="D4A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31920" y="2880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副本系统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532120" y="2651760"/>
            <a:ext cx="1554480" cy="822960"/>
          </a:xfrm>
          <a:prstGeom prst="rect">
            <a:avLst/>
          </a:prstGeom>
          <a:solidFill>
            <a:srgbClr val="222222"/>
          </a:solidFill>
          <a:ln w="6350">
            <a:solidFill>
              <a:srgbClr val="D4A0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23560" y="2880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成就排行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223760" y="2651760"/>
            <a:ext cx="1554480" cy="822960"/>
          </a:xfrm>
          <a:prstGeom prst="rect">
            <a:avLst/>
          </a:prstGeom>
          <a:solidFill>
            <a:srgbClr val="222222"/>
          </a:solidFill>
          <a:ln w="6350">
            <a:solidFill>
              <a:srgbClr val="D4A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0" y="2880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新手引导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749040"/>
            <a:ext cx="1554480" cy="822960"/>
          </a:xfrm>
          <a:prstGeom prst="rect">
            <a:avLst/>
          </a:prstGeom>
          <a:solidFill>
            <a:srgbClr val="222222"/>
          </a:solidFill>
          <a:ln w="6350">
            <a:solidFill>
              <a:srgbClr val="D4A0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3977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背包仓库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148840" y="3749040"/>
            <a:ext cx="1554480" cy="822960"/>
          </a:xfrm>
          <a:prstGeom prst="rect">
            <a:avLst/>
          </a:prstGeom>
          <a:solidFill>
            <a:srgbClr val="222222"/>
          </a:solidFill>
          <a:ln w="6350">
            <a:solidFill>
              <a:srgbClr val="D4A0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40280" y="3977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成长系统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840480" y="3749040"/>
            <a:ext cx="1554480" cy="822960"/>
          </a:xfrm>
          <a:prstGeom prst="rect">
            <a:avLst/>
          </a:prstGeom>
          <a:solidFill>
            <a:srgbClr val="222222"/>
          </a:solidFill>
          <a:ln w="6350">
            <a:solidFill>
              <a:srgbClr val="D4A0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31920" y="3977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装备系统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532120" y="3749040"/>
            <a:ext cx="1554480" cy="822960"/>
          </a:xfrm>
          <a:prstGeom prst="rect">
            <a:avLst/>
          </a:prstGeom>
          <a:solidFill>
            <a:srgbClr val="222222"/>
          </a:solidFill>
          <a:ln w="6350">
            <a:solidFill>
              <a:srgbClr val="D4A04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23560" y="3977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运营活动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412480" y="47548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4CA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文字设计阶段已全部完成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小说（74章·50万字）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0" y="1371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4CA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55648"/>
            <a:ext cx="8229600" cy="0"/>
          </a:xfrm>
          <a:prstGeom prst="line">
            <a:avLst/>
          </a:prstGeom>
          <a:noFill/>
          <a:ln w="6350">
            <a:solidFill>
              <a:srgbClr val="2222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28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世界观设定（第四版）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0" y="1828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4CA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212848"/>
            <a:ext cx="8229600" cy="0"/>
          </a:xfrm>
          <a:prstGeom prst="line">
            <a:avLst/>
          </a:prstGeom>
          <a:noFill/>
          <a:ln w="6350">
            <a:solidFill>
              <a:srgbClr val="2222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2860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游戏系统设计（14子系统）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4CA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70048"/>
            <a:ext cx="8229600" cy="0"/>
          </a:xfrm>
          <a:prstGeom prst="line">
            <a:avLst/>
          </a:prstGeom>
          <a:noFill/>
          <a:ln w="6350">
            <a:solidFill>
              <a:srgbClr val="2222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743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任务设计（13主线+3DLC）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0" y="2743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4CA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27248"/>
            <a:ext cx="8229600" cy="0"/>
          </a:xfrm>
          <a:prstGeom prst="line">
            <a:avLst/>
          </a:prstGeom>
          <a:noFill/>
          <a:ln w="6350">
            <a:solidFill>
              <a:srgbClr val="2222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2004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美术设计文字稿（11类）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0" y="3200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4CA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584448"/>
            <a:ext cx="8229600" cy="0"/>
          </a:xfrm>
          <a:prstGeom prst="line">
            <a:avLst/>
          </a:prstGeom>
          <a:noFill/>
          <a:ln w="6350">
            <a:solidFill>
              <a:srgbClr val="2222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657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概念视觉资产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0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C66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0%（待启动）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041648"/>
            <a:ext cx="8229600" cy="0"/>
          </a:xfrm>
          <a:prstGeom prst="line">
            <a:avLst/>
          </a:prstGeom>
          <a:noFill/>
          <a:ln w="6350">
            <a:solidFill>
              <a:srgbClr val="2222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114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原型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0" y="4114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C66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0%（待启动）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412480" y="47548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4CA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我们不是另一个赛博朋克游戏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13716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468880" y="13716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白穹纪元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663440" y="13716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赛博朋克2077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0" y="13716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极乐迪斯科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74320" y="17373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美学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68880" y="17373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真空管电子机械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63440" y="17373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霓虹+纳米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0" y="17373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写实油画风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" y="2377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叙事比重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468880" y="2377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63440" y="2377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重要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0" y="2377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74320" y="30175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战斗系统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468880" y="30175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中度（PVE为主）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63440" y="30175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重度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0" y="30175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74320" y="3657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核心体验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468880" y="3657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精密窒息·无力感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663440" y="3657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超级英雄幻想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58000" y="3657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内心思辨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CA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市场上不存在与白穹纪元正面竞争的同类产品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412480" y="47548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4CA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买断制 + 外观内购，不逼氪不数值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定价模式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0" y="146304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买断制 ¥68（标准版）/ ¥98（豪华版）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内购设计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926080" y="210312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仅外观类：装备涂装、义体外壳、家园装饰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743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DLC扩展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926080" y="274320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前传/后传剧情DLC + 世界拓展包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禁区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926080" y="338328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无抽卡 · 无通行证 · 无限时活动 · 无数值付费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8229600" cy="0"/>
          </a:xfrm>
          <a:prstGeom prst="line">
            <a:avLst/>
          </a:prstGeom>
          <a:noFill/>
          <a:ln w="12700">
            <a:solidFill>
              <a:srgbClr val="2222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收入预估（第一年）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¥68x30万 + ¥98x15万 + DLC+内购 约4510万（保守估计）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12480" y="47548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4CA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ROADMAP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12个月从概念到可玩原型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13716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CA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M1-2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88720" y="13716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概念视觉化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88720" y="162763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全部概念图+风格指南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0" y="13716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10-20万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17520" y="1463040"/>
            <a:ext cx="365760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0" name="Shape 8"/>
          <p:cNvSpPr/>
          <p:nvPr/>
        </p:nvSpPr>
        <p:spPr>
          <a:xfrm>
            <a:off x="3017520" y="1463040"/>
            <a:ext cx="621792" cy="274320"/>
          </a:xfrm>
          <a:prstGeom prst="rect">
            <a:avLst/>
          </a:prstGeom>
          <a:solidFill>
            <a:srgbClr val="D4A040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20574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CA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M3-6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88720" y="20574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垂直切片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88720" y="231343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白穹城第一天+铁锈带第一天可玩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858000" y="20574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50-80万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0" y="2148840"/>
            <a:ext cx="365760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6" name="Shape 14"/>
          <p:cNvSpPr/>
          <p:nvPr/>
        </p:nvSpPr>
        <p:spPr>
          <a:xfrm>
            <a:off x="3017520" y="2148840"/>
            <a:ext cx="1207008" cy="274320"/>
          </a:xfrm>
          <a:prstGeom prst="rect">
            <a:avLst/>
          </a:prstGeom>
          <a:solidFill>
            <a:srgbClr val="D4A040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27432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CA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M7-9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88720" y="27432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88720" y="299923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前传+主线前半完成度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858000" y="27432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80-120万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017520" y="2834640"/>
            <a:ext cx="365760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22" name="Shape 20"/>
          <p:cNvSpPr/>
          <p:nvPr/>
        </p:nvSpPr>
        <p:spPr>
          <a:xfrm>
            <a:off x="3017520" y="2834640"/>
            <a:ext cx="2121408" cy="274320"/>
          </a:xfrm>
          <a:prstGeom prst="rect">
            <a:avLst/>
          </a:prstGeom>
          <a:solidFill>
            <a:srgbClr val="D4A040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34290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CA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M10-11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88720" y="34290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88720" y="368503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全线整合+测试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858000" y="3429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50-80万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017520" y="3520440"/>
            <a:ext cx="365760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28" name="Shape 26"/>
          <p:cNvSpPr/>
          <p:nvPr/>
        </p:nvSpPr>
        <p:spPr>
          <a:xfrm>
            <a:off x="3017520" y="3520440"/>
            <a:ext cx="3035808" cy="274320"/>
          </a:xfrm>
          <a:prstGeom prst="rect">
            <a:avLst/>
          </a:prstGeom>
          <a:solidFill>
            <a:srgbClr val="D4A040"/>
          </a:solidFill>
          <a:ln/>
        </p:spPr>
      </p:sp>
      <p:sp>
        <p:nvSpPr>
          <p:cNvPr id="29" name="Text 27"/>
          <p:cNvSpPr/>
          <p:nvPr/>
        </p:nvSpPr>
        <p:spPr>
          <a:xfrm>
            <a:off x="274320" y="41148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CA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88720" y="4114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88720" y="437083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优化+发行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858000" y="41148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30-50万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017520" y="4206240"/>
            <a:ext cx="365760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34" name="Shape 32"/>
          <p:cNvSpPr/>
          <p:nvPr/>
        </p:nvSpPr>
        <p:spPr>
          <a:xfrm>
            <a:off x="3017520" y="4206240"/>
            <a:ext cx="3657600" cy="274320"/>
          </a:xfrm>
          <a:prstGeom prst="rect">
            <a:avLst/>
          </a:prstGeom>
          <a:solidFill>
            <a:srgbClr val="D4A04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CA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总计预算：约 220-350万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412480" y="47548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4CA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&amp; NEEDS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核心内容已由一人完成 · 等待商业驱动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CA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已完成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正在寻找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策划/编剧/世界主设 — 1人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0" y="1828800"/>
            <a:ext cx="54864" cy="320040"/>
          </a:xfrm>
          <a:prstGeom prst="rect">
            <a:avLst/>
          </a:prstGeom>
          <a:solidFill>
            <a:srgbClr val="CC6633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0" y="18288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程序/技术合伙人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0" y="2286000"/>
            <a:ext cx="54864" cy="320040"/>
          </a:xfrm>
          <a:prstGeom prst="rect">
            <a:avLst/>
          </a:prstGeom>
          <a:solidFill>
            <a:srgbClr val="CC6633"/>
          </a:solidFill>
          <a:ln/>
        </p:spPr>
      </p:sp>
      <p:sp>
        <p:nvSpPr>
          <p:cNvPr id="11" name="Text 9"/>
          <p:cNvSpPr/>
          <p:nvPr/>
        </p:nvSpPr>
        <p:spPr>
          <a:xfrm>
            <a:off x="5303520" y="22860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概念美术师/AI美术协作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0" y="2743200"/>
            <a:ext cx="54864" cy="320040"/>
          </a:xfrm>
          <a:prstGeom prst="rect">
            <a:avLst/>
          </a:prstGeom>
          <a:solidFill>
            <a:srgbClr val="CC6633"/>
          </a:solidFill>
          <a:ln/>
        </p:spPr>
      </p:sp>
      <p:sp>
        <p:nvSpPr>
          <p:cNvPr id="13" name="Text 11"/>
          <p:cNvSpPr/>
          <p:nvPr/>
        </p:nvSpPr>
        <p:spPr>
          <a:xfrm>
            <a:off x="5303520" y="27432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音乐制作人（外包）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0" y="3200400"/>
            <a:ext cx="54864" cy="320040"/>
          </a:xfrm>
          <a:prstGeom prst="rect">
            <a:avLst/>
          </a:prstGeom>
          <a:solidFill>
            <a:srgbClr val="CC6633"/>
          </a:solidFill>
          <a:ln/>
        </p:spPr>
      </p:sp>
      <p:sp>
        <p:nvSpPr>
          <p:cNvPr id="15" name="Text 13"/>
          <p:cNvSpPr/>
          <p:nvPr/>
        </p:nvSpPr>
        <p:spPr>
          <a:xfrm>
            <a:off x="5303520" y="32004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种子投资（约20-30万）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12480" y="47548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期待与您对话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8E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此处放联系方式 ]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0" y="3657600"/>
            <a:ext cx="3657600" cy="0"/>
          </a:xfrm>
          <a:prstGeom prst="line">
            <a:avLst/>
          </a:prstGeom>
          <a:noFill/>
          <a:ln w="6350">
            <a:solidFill>
              <a:srgbClr val="4CAF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故事已经写好了。现在，把它变成让人看得见的东西。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412480" y="47548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420</Words>
  <Application>Microsoft Office PowerPoint</Application>
  <PresentationFormat>全屏显示(16:9)</PresentationFormat>
  <Paragraphs>174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6" baseType="lpstr">
      <vt:lpstr>Arial</vt:lpstr>
      <vt:lpstr>Courier New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白穹纪元：机械永生录 — 路演</dc:title>
  <dc:subject>PptxGenJS Presentation</dc:subject>
  <dc:creator>柏万</dc:creator>
  <cp:lastModifiedBy>頔夫 柏</cp:lastModifiedBy>
  <cp:revision>3</cp:revision>
  <dcterms:created xsi:type="dcterms:W3CDTF">2026-05-31T10:32:48Z</dcterms:created>
  <dcterms:modified xsi:type="dcterms:W3CDTF">2026-06-02T04:56:50Z</dcterms:modified>
</cp:coreProperties>
</file>